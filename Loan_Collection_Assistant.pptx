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7556cd1-1758-f162-397b-2302276c6315}">
          <p14:sldIdLst>
            <p14:sldId id="256"/>
          </p14:sldIdLst>
        </p14:section>
        <p14:section name="Why and How" id="{6117a6ae-219f-23a5-c2e2-58745671d52d}">
          <p14:sldIdLst>
            <p14:sldId id="257"/>
            <p14:sldId id="258"/>
            <p14:sldId id="259"/>
          </p14:sldIdLst>
        </p14:section>
        <p14:section name="The Prototype" id="{914db81b-1284-2890-0b45-a7a65fab1a6b}">
          <p14:sldIdLst>
            <p14:sldId id="260"/>
            <p14:sldId id="261"/>
          </p14:sldIdLst>
        </p14:section>
        <p14:section name="Impact and Build" id="{a640d0c1-8977-e8c2-d2a5-81af7398e946}">
          <p14:sldIdLst>
            <p14:sldId id="262"/>
            <p14:sldId id="263"/>
            <p14:sldId id="264"/>
          </p14:sldIdLst>
        </p14:section>
        <p14:section name="Close" id="{69d17f77-279e-231e-37e9-364ab5647dc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1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583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Collection Assistant — Prototype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Collection Assistant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collections workflow prototype — rules engine, AI drafting, and human-in-the-loop approval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Nehete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AI for Business — Portfolio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F6E5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0F6E5C">
              <a:alpha val="12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manual loan collections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B4601A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outpaces manual review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overdue book can run to thousands of accounts. Officers can't individually assess every case for next steps.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20624" cy="420624"/>
          </a:xfrm>
          <a:prstGeom prst="ellipse">
            <a:avLst/>
          </a:prstGeom>
          <a:solidFill>
            <a:srgbClr val="B4601A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371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Discretion erodes policy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6479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quietly re-extend a broken promise-to-pay again and again, delaying escalation that policy actually requires.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420624" cy="420624"/>
          </a:xfrm>
          <a:prstGeom prst="ellipse">
            <a:avLst/>
          </a:prstGeom>
          <a:solidFill>
            <a:srgbClr val="B4601A">
              <a:alpha val="1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20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risk in communication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1363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reminder that drifts into “legal action” language too early breaches RBI fair-practice expectations.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566160"/>
            <a:ext cx="420624" cy="420624"/>
          </a:xfrm>
          <a:prstGeom prst="ellipse">
            <a:avLst/>
          </a:prstGeom>
          <a:solidFill>
            <a:srgbClr val="B4601A">
              <a:alpha val="1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520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inconsistent reporting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91363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(CIBIL) reporting gaps and delayed NAB reclassification go unnoticed without a systematic check.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process vs. AI-assisted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EEF1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fully manual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800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manually scans the overdue list every morning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sent on a fixed schedule, same tone for everyone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calls, records P2P manually, judgment on when to escalate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decided case-by-case, inconsistently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reporting checked periodically, not continuously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1122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ASSISTANT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800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buckets every loan by DPD automatically, every run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reminders by severity, reflection catches tone/compliance issues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forces escalation after repeated broken P2P — no override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genuine judgment calls (5 of 20) reach an officer's queue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Bureau-reporting gaps flagged automatically, nothing missed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acts, and where a human must decide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663440"/>
        </p:xfrm>
        <a:graphic>
          <a:graphicData uri="http://schemas.openxmlformats.org/drawingml/2006/table">
            <a:tbl>
              <a:tblPr/>
              <a:tblGrid>
                <a:gridCol w="4206240"/>
                <a:gridCol w="4846320"/>
                <a:gridCol w="1828800"/>
              </a:tblGrid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A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Reminders &amp; status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 — scheduled, severity-aware drafting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Promise-to-pay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commitments, flags breaks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broken promise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rule forces escalation, no agent override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6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visit / legal notice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prepares the case file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6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(CIBIL)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gaps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6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Auto-flag, human verifies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662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role — committee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6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— the full loan book at a glance</a:t>
            </a:r>
            <a:endParaRPr lang="en-US" sz="2800" dirty="0"/>
          </a:p>
        </p:txBody>
      </p:sp>
      <p:pic>
        <p:nvPicPr>
          <p:cNvPr id="3" name="Image 0" descr="/home/claude/sho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949440" cy="48828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818120" y="1554480"/>
            <a:ext cx="3749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synthetic loans, one worklist.
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25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tiles surface the headline numbers immediately: how many loans, how many cleared automatically, how many needed a person, and how many audit entries back every decision.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search by customer or loan ID, click any row to expand its full story.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 reveals the entire decision trail</a:t>
            </a:r>
            <a:endParaRPr lang="en-US" sz="2800" dirty="0"/>
          </a:p>
        </p:txBody>
      </p:sp>
      <p:pic>
        <p:nvPicPr>
          <p:cNvPr id="3" name="Image 0" descr="/home/claude/shot_detail_LN00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80160"/>
            <a:ext cx="7178040" cy="51663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40080" y="1463040"/>
            <a:ext cx="3520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LN00016 — 89 days overdue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fired: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broken promise-to-pay forces escalation, agent override disabled.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drafted: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case summary for the reviewing officer.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approved: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officer confirmed the escalation, with a logged comment.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audited: </a:t>
            </a:r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traceable, explainable — exactly what a bank's risk team would ask to see.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considered, and how the design controls them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built into the prototype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quietly re-extending broken promises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rule forces escalation after policy threshold — no override field exists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drafting overly strong or premature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step checks every draft; caught “legal action” language at PDO2 and softened it automatically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 with no 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rule firing and every human decision is timestamped and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Legal/financial actions taken without sign-off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visits, legal notices, moratoriums and write-offs are always Human-required, never automatic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Bureau reporting gaps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checks NAB loans against the reporting log and flags any not yet reported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approach delivers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from the 20-loan synthetic prototype — directionally what this design achieves at scale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loans cleared automatically — no officer time spent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920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6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decisions, automatic or human, logged with a reason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920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broken-promise cycles allowed to bypass policy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6840" y="1920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A5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1-click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from rule to recommendation to approval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5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stop triaging the routine 75% and spend their time on the accounts that actually need judgment — the same shift that makes collections both more efficient and more consistent with RBI fair-practice expectations.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122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0" cy="438912"/>
          </a:xfrm>
          <a:prstGeom prst="line">
            <a:avLst/>
          </a:prstGeom>
          <a:noFill/>
          <a:ln w="25400">
            <a:solidFill>
              <a:srgbClr val="EEF1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527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527048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standing in for core banking + LMS: loan contracts, collection cases, payments, bureau 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1122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907792"/>
            <a:ext cx="0" cy="438912"/>
          </a:xfrm>
          <a:prstGeom prst="line">
            <a:avLst/>
          </a:prstGeom>
          <a:noFill/>
          <a:ln w="25400">
            <a:solidFill>
              <a:srgbClr val="EEF1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42316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encodes the DPD buckets and the hard escalation rule — agentic pattern: planning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1122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803904"/>
            <a:ext cx="0" cy="438912"/>
          </a:xfrm>
          <a:prstGeom prst="line">
            <a:avLst/>
          </a:prstGeom>
          <a:noFill/>
          <a:ln w="25400">
            <a:solidFill>
              <a:srgbClr val="EEF1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3192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drafting layer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319272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reminders &amp; case summaries, self-checks tone/compliance — pattern: reflection +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42816"/>
            <a:ext cx="457200" cy="457200"/>
          </a:xfrm>
          <a:prstGeom prst="ellipse">
            <a:avLst/>
          </a:prstGeom>
          <a:solidFill>
            <a:srgbClr val="1122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" y="4700016"/>
            <a:ext cx="0" cy="438912"/>
          </a:xfrm>
          <a:prstGeom prst="line">
            <a:avLst/>
          </a:prstGeom>
          <a:noFill/>
          <a:ln w="25400">
            <a:solidFill>
              <a:srgbClr val="EEF1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42153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+ audit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215384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Human-required items blocked until a named decision is logged — pattern: human-in-the-loop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1122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111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5111496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page joining every layer into one click-through worklist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1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4800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rule in code is worth more than a soft guideline — it's what actually stops policy erosion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catches real problems: a draft message genuinely drifted into premature legal language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“Auto” should mean the system acts without approval, not that no human is ever involved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1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turns “trust the AI” into “check the AI” — far more defensible to a risk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1122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57400"/>
            <a:ext cx="4800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 a live LLM API call in place of the fallback drafter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retention-offer logic for deposit/loan moratorium cases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 two: an Account Opening assistant, same 8-step method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both projects on GitHub as a public portfolio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5836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2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ections AI">
  <a:themeElements>
    <a:clrScheme name="Collections AI">
      <a:dk1>
        <a:srgbClr val="11223A"/>
      </a:dk1>
      <a:lt1>
        <a:srgbClr val="FFFFFF"/>
      </a:lt1>
      <a:dk2>
        <a:srgbClr val="0F6E5C"/>
      </a:dk2>
      <a:lt2>
        <a:srgbClr val="EEF1F4"/>
      </a:lt2>
      <a:accent1>
        <a:srgbClr val="0F6E5C"/>
      </a:accent1>
      <a:accent2>
        <a:srgbClr val="B4601A"/>
      </a:accent2>
      <a:accent3>
        <a:srgbClr val="1C8A5E"/>
      </a:accent3>
      <a:accent4>
        <a:srgbClr val="11223A"/>
      </a:accent4>
      <a:accent5>
        <a:srgbClr val="8A5FB0"/>
      </a:accent5>
      <a:accent6>
        <a:srgbClr val="6C7E92"/>
      </a:accent6>
      <a:hlink>
        <a:srgbClr val="0F6E5C"/>
      </a:hlink>
      <a:folHlink>
        <a:srgbClr val="8A5FB0"/>
      </a:folHlink>
    </a:clrScheme>
    <a:fontScheme name="Collections 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Portfolio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Collection Assistant</dc:title>
  <dc:subject>PptxGenJS Presentation</dc:subject>
  <dc:creator>Girish Nehete</dc:creator>
  <cp:lastModifiedBy>Girish Nehete</cp:lastModifiedBy>
  <cp:revision>1</cp:revision>
  <dcterms:created xsi:type="dcterms:W3CDTF">2026-10-17T12:44:50Z</dcterms:created>
  <dcterms:modified xsi:type="dcterms:W3CDTF">2026-10-17T12:44:50Z</dcterms:modified>
</cp:coreProperties>
</file>